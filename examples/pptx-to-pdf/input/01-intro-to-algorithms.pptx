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838200" y="1200150"/>
            <a:ext cx="10515600" cy="13255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/>
            <a:r>
              <a:rPr lang="en-US" sz="3600" b="1" dirty="0"/>
              <a:t>Lecture 1 — What Is an Algorithm?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838200" y="2750000"/>
            <a:ext cx="10515600" cy="30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Char char="•"/>
            </a:pPr>
            <a:r>
              <a:rPr lang="en-US" sz="2000" b="0" dirty="0"/>
              <a:t>A finite, unambiguous procedure</a:t>
            </a:r>
          </a:p>
          <a:p>
            <a:pPr marL="285750" indent="-285750">
              <a:buChar char="•"/>
            </a:pPr>
            <a:r>
              <a:rPr lang="en-US" sz="2000" b="0" dirty="0"/>
              <a:t>Correctness before speed</a:t>
            </a:r>
          </a:p>
          <a:p>
            <a:pPr marL="285750" indent="-285750">
              <a:buChar char="•"/>
            </a:pPr>
            <a:r>
              <a:rPr lang="en-US" sz="2000" b="0" dirty="0"/>
              <a:t>Today: how we measure cost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838200" y="1200150"/>
            <a:ext cx="10515600" cy="13255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/>
            <a:r>
              <a:rPr lang="en-US" sz="3600" b="1" dirty="0"/>
              <a:t>Measuring Cost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838200" y="2750000"/>
            <a:ext cx="10515600" cy="30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Char char="•"/>
            </a:pPr>
            <a:r>
              <a:rPr lang="en-US" sz="2000" b="0" dirty="0"/>
              <a:t>Count operations, not seconds</a:t>
            </a:r>
          </a:p>
          <a:p>
            <a:pPr marL="285750" indent="-285750">
              <a:buChar char="•"/>
            </a:pPr>
            <a:r>
              <a:rPr lang="en-US" sz="2000" b="0" dirty="0"/>
              <a:t>Machine-independent comparison</a:t>
            </a:r>
          </a:p>
          <a:p>
            <a:pPr marL="285750" indent="-285750">
              <a:buChar char="•"/>
            </a:pPr>
            <a:r>
              <a:rPr lang="en-US" sz="2000" b="0" dirty="0"/>
              <a:t>Growth is what survives scale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838200" y="1200150"/>
            <a:ext cx="10515600" cy="13255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/>
            <a:r>
              <a:rPr lang="en-US" sz="3600" b="1" dirty="0"/>
              <a:t>Big-O Notation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838200" y="2750000"/>
            <a:ext cx="10515600" cy="30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Char char="•"/>
            </a:pPr>
            <a:r>
              <a:rPr lang="en-US" sz="2000" b="0" dirty="0"/>
              <a:t>An upper bound on growth</a:t>
            </a:r>
          </a:p>
          <a:p>
            <a:pPr marL="285750" indent="-285750">
              <a:buChar char="•"/>
            </a:pPr>
            <a:r>
              <a:rPr lang="en-US" sz="2000" b="0" dirty="0"/>
              <a:t>Constants drop out</a:t>
            </a:r>
          </a:p>
          <a:p>
            <a:pPr marL="285750" indent="-285750">
              <a:buChar char="•"/>
            </a:pPr>
            <a:r>
              <a:rPr lang="en-US" sz="2000" b="0" dirty="0"/>
              <a:t>O(n log n) beats O(n squared) eventually — and eventually arrives early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DF Studio">
  <a:themeElements>
    <a:clrScheme name="Office">
      <a:dk1>
        <a:sysClr val="windowText" lastClr="000000"/>
      </a:dk1>
      <a:lt1>
        <a:sysClr val="window" lastClr="FFFFFF"/>
      </a:lt1>
      <a:dk2>
        <a:srgbClr val="002060"/>
      </a:dk2>
      <a:lt2>
        <a:srgbClr val="EEECE1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