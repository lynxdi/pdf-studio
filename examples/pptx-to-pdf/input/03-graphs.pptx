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838200" y="1200150"/>
            <a:ext cx="10515600" cy="132556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/>
            <a:r>
              <a:rPr lang="en-US" sz="3600" b="1" dirty="0"/>
              <a:t>Lecture 3 — Graphs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838200" y="2750000"/>
            <a:ext cx="10515600" cy="30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Char char="•"/>
            </a:pPr>
            <a:r>
              <a:rPr lang="en-US" sz="2000" b="0" dirty="0"/>
              <a:t>Vertices and edges</a:t>
            </a:r>
          </a:p>
          <a:p>
            <a:pPr marL="285750" indent="-285750">
              <a:buChar char="•"/>
            </a:pPr>
            <a:r>
              <a:rPr lang="en-US" sz="2000" b="0" dirty="0"/>
              <a:t>Adjacency list vs matrix</a:t>
            </a:r>
          </a:p>
          <a:p>
            <a:pPr marL="285750" indent="-285750">
              <a:buChar char="•"/>
            </a:pPr>
            <a:r>
              <a:rPr lang="en-US" sz="2000" b="0" dirty="0"/>
              <a:t>Density decides the representation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838200" y="1200150"/>
            <a:ext cx="10515600" cy="132556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/>
            <a:r>
              <a:rPr lang="en-US" sz="3600" b="1" dirty="0"/>
              <a:t>Breadth-First Search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838200" y="2750000"/>
            <a:ext cx="10515600" cy="30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Char char="•"/>
            </a:pPr>
            <a:r>
              <a:rPr lang="en-US" sz="2000" b="0" dirty="0"/>
              <a:t>Explore by distance</a:t>
            </a:r>
          </a:p>
          <a:p>
            <a:pPr marL="285750" indent="-285750">
              <a:buChar char="•"/>
            </a:pPr>
            <a:r>
              <a:rPr lang="en-US" sz="2000" b="0" dirty="0"/>
              <a:t>Shortest paths on unweighted graphs</a:t>
            </a:r>
          </a:p>
          <a:p>
            <a:pPr marL="285750" indent="-285750">
              <a:buChar char="•"/>
            </a:pPr>
            <a:r>
              <a:rPr lang="en-US" sz="2000" b="0" dirty="0"/>
              <a:t>Queue, not stack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DF Studio">
  <a:themeElements>
    <a:clrScheme name="Office">
      <a:dk1>
        <a:sysClr val="windowText" lastClr="000000"/>
      </a:dk1>
      <a:lt1>
        <a:sysClr val="window" lastClr="FFFFFF"/>
      </a:lt1>
      <a:dk2>
        <a:srgbClr val="002060"/>
      </a:dk2>
      <a:lt2>
        <a:srgbClr val="EEECE1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